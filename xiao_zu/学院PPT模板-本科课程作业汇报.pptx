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3" r:id="rId3"/>
  </p:sldMasterIdLst>
  <p:notesMasterIdLst>
    <p:notesMasterId r:id="rId7"/>
  </p:notesMasterIdLst>
  <p:handoutMasterIdLst>
    <p:handoutMasterId r:id="rId37"/>
  </p:handoutMasterIdLst>
  <p:sldIdLst>
    <p:sldId id="634" r:id="rId4"/>
    <p:sldId id="650" r:id="rId5"/>
    <p:sldId id="636" r:id="rId6"/>
    <p:sldId id="681" r:id="rId8"/>
    <p:sldId id="654" r:id="rId9"/>
    <p:sldId id="670" r:id="rId10"/>
    <p:sldId id="682" r:id="rId11"/>
    <p:sldId id="655" r:id="rId12"/>
    <p:sldId id="661" r:id="rId13"/>
    <p:sldId id="683" r:id="rId14"/>
    <p:sldId id="653" r:id="rId15"/>
    <p:sldId id="672" r:id="rId16"/>
    <p:sldId id="685" r:id="rId17"/>
    <p:sldId id="679" r:id="rId18"/>
    <p:sldId id="673" r:id="rId19"/>
    <p:sldId id="686" r:id="rId20"/>
    <p:sldId id="656" r:id="rId21"/>
    <p:sldId id="674" r:id="rId22"/>
    <p:sldId id="687" r:id="rId23"/>
    <p:sldId id="657" r:id="rId24"/>
    <p:sldId id="675" r:id="rId25"/>
    <p:sldId id="688" r:id="rId26"/>
    <p:sldId id="658" r:id="rId27"/>
    <p:sldId id="676" r:id="rId28"/>
    <p:sldId id="689" r:id="rId29"/>
    <p:sldId id="659" r:id="rId30"/>
    <p:sldId id="678" r:id="rId31"/>
    <p:sldId id="690" r:id="rId32"/>
    <p:sldId id="660" r:id="rId33"/>
    <p:sldId id="680" r:id="rId34"/>
    <p:sldId id="649" r:id="rId35"/>
    <p:sldId id="633" r:id="rId3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CC3300"/>
    <a:srgbClr val="66FF66"/>
    <a:srgbClr val="CC9900"/>
    <a:srgbClr val="FF9900"/>
    <a:srgbClr val="CC66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952"/>
    <p:restoredTop sz="94660"/>
  </p:normalViewPr>
  <p:slideViewPr>
    <p:cSldViewPr showGuides="1">
      <p:cViewPr varScale="1">
        <p:scale>
          <a:sx n="78" d="100"/>
          <a:sy n="78" d="100"/>
        </p:scale>
        <p:origin x="1210" y="62"/>
      </p:cViewPr>
      <p:guideLst>
        <p:guide orient="horz" pos="2160"/>
        <p:guide pos="29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7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1C510C-00E5-4D63-983F-BA89A59544EE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4213" y="2708275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196975"/>
            <a:ext cx="7772400" cy="1371600"/>
          </a:xfrm>
        </p:spPr>
        <p:txBody>
          <a:bodyPr/>
          <a:lstStyle>
            <a:lvl1pPr>
              <a:defRPr sz="33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6375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2D7193-4055-42E2-9F20-93492DA00CD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63938" y="6310313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1950" y="304800"/>
            <a:ext cx="2051050" cy="58070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5625" y="304800"/>
            <a:ext cx="6003925" cy="58070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555625" y="1844675"/>
            <a:ext cx="8207375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单击图标添加表格</a:t>
            </a: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55625" y="1844675"/>
            <a:ext cx="4027488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35513" y="1844675"/>
            <a:ext cx="4027487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55625" y="4054475"/>
            <a:ext cx="4027488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5513" y="4054475"/>
            <a:ext cx="4027487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4213" y="2708275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196975"/>
            <a:ext cx="7772400" cy="1371600"/>
          </a:xfrm>
        </p:spPr>
        <p:txBody>
          <a:bodyPr/>
          <a:lstStyle>
            <a:lvl1pPr>
              <a:defRPr sz="33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6375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2D7193-4055-42E2-9F20-93492DA00CD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63938" y="6310313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1950" y="304800"/>
            <a:ext cx="2051050" cy="58070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5625" y="304800"/>
            <a:ext cx="6003925" cy="58070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555625" y="1844675"/>
            <a:ext cx="8207375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单击图标添加表格</a:t>
            </a: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55625" y="1844675"/>
            <a:ext cx="4027488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35513" y="1844675"/>
            <a:ext cx="4027487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55625" y="4054475"/>
            <a:ext cx="4027488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5513" y="4054475"/>
            <a:ext cx="4027487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8" Type="http://schemas.openxmlformats.org/officeDocument/2006/relationships/theme" Target="../theme/theme2.xml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3124200" y="23336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39750" y="1341438"/>
            <a:ext cx="8207375" cy="47704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a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539750" y="1087438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3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日期占位符 3"/>
          <p:cNvSpPr txBox="1">
            <a:spLocks noGrp="1"/>
          </p:cNvSpPr>
          <p:nvPr/>
        </p:nvSpPr>
        <p:spPr bwMode="auto">
          <a:xfrm>
            <a:off x="611188" y="6396038"/>
            <a:ext cx="1370013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8A38A3-6652-425B-8BA4-9098B4BAE49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图片 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79388" y="238125"/>
            <a:ext cx="2705100" cy="50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图片 11" descr="logo.png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08850" y="6242050"/>
            <a:ext cx="1312863" cy="4762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3124200" y="23336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39750" y="1341438"/>
            <a:ext cx="8207375" cy="47704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a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539750" y="1087438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3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日期占位符 3"/>
          <p:cNvSpPr txBox="1">
            <a:spLocks noGrp="1"/>
          </p:cNvSpPr>
          <p:nvPr/>
        </p:nvSpPr>
        <p:spPr bwMode="auto">
          <a:xfrm>
            <a:off x="611188" y="6396038"/>
            <a:ext cx="1370013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8A38A3-6652-425B-8BA4-9098B4BAE49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图片 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79388" y="238125"/>
            <a:ext cx="2705100" cy="50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图片 11" descr="logo.png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08850" y="6242050"/>
            <a:ext cx="1312863" cy="4762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3.jpe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208088" y="1628775"/>
            <a:ext cx="7929562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间距调整\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Brake distance</a:t>
            </a:r>
            <a:b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</a:b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A: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间距调整\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Brake distance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 vert="horz" wrap="square" lIns="91440" tIns="45720" rIns="91440" bIns="45720" anchor="t" anchorCtr="0"/>
              <a:p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题目难点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：目标间距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n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的最大数据范围高达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（甚至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），使用传统的广度优先搜索（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BFS）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会导致状态空间爆炸，无法满足时间和空间复杂度要求。难点在于需要采用逆向思维（从目标值反推回 1）结合记忆化搜索（动态规划），对奇偶数进行分流处理，将搜索树的深度严格限制在 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O(logn)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级别。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r>
                  <a:rPr lang="en-US" altLang="zh-CN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     </a:t>
                </a:r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流程图：</a:t>
                </a:r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</p:txBody>
          </p:sp>
        </mc:Choice>
        <mc:Fallback>
          <p:sp>
            <p:nvSpPr>
              <p:cNvPr id="204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95" y="3028950"/>
            <a:ext cx="5393055" cy="308292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 vert="horz" wrap="square" lIns="91440" tIns="45720" rIns="91440" bIns="45720" anchor="t" anchorCtr="0"/>
              <a:p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测试数据介绍：</a:t>
                </a:r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样例 10：正确推导出了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1-&gt;2-&gt;4-&gt;5-&gt;10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的四步最优路径 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ABAB，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耗时 33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us。</a:t>
                </a:r>
                <a:endParaRPr lang="en-US" altLang="zh-CN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样例 15：得出 5 步最优路径 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ABBBC，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耗时 37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us。</a:t>
                </a:r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代码演示：</a:t>
                </a:r>
                <a:r>
                  <a:rPr lang="en-US" altLang="zh-CN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</a:t>
                </a:r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测试用例 10 的结果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   </a:t>
                </a:r>
                <a:endParaRPr lang="en-US" altLang="zh-CN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endParaRPr lang="en-US" altLang="zh-CN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测试用例 15 的结果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   </a:t>
                </a:r>
                <a:endParaRPr lang="en-US" altLang="zh-CN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测试用例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的结果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</p:txBody>
          </p:sp>
        </mc:Choice>
        <mc:Fallback>
          <p:sp>
            <p:nvSpPr>
              <p:cNvPr id="204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>
            <a:spLocks noGrp="1"/>
          </p:cNvSpPr>
          <p:nvPr/>
        </p:nvSpPr>
        <p:spPr>
          <a:xfrm>
            <a:off x="3131820" y="4413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A: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间距调整\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Brake distance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76" name="Picture" descr="Pasted image 20260617194234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78" y="5444808"/>
            <a:ext cx="2428875" cy="7156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" descr="Pasted image 20260617194503.pn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78" y="3140393"/>
            <a:ext cx="2158365" cy="8693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" name="Picture" descr="Pasted image 20260617193823.png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95" y="4364990"/>
            <a:ext cx="1962150" cy="81534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内容占位符 2"/>
              <p:cNvSpPr>
                <a:spLocks noGrp="1"/>
              </p:cNvSpPr>
              <p:nvPr/>
            </p:nvSpPr>
            <p:spPr>
              <a:xfrm>
                <a:off x="3636010" y="2277110"/>
                <a:ext cx="4865370" cy="47701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  <a:cs typeface="+mn-cs"/>
                  </a:defRPr>
                </a:lvl1pPr>
                <a:lvl2pPr marL="908050" indent="-436880" algn="l" rtl="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51430" indent="-398780" algn="l" rtl="0" eaLnBrk="1" fontAlgn="base" hangingPunct="1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3008630" indent="-398780" algn="l" rtl="0" eaLnBrk="1" fontAlgn="base" hangingPunct="1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65830" indent="-398780" algn="l" rtl="0" eaLnBrk="1" fontAlgn="base" hangingPunct="1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923030" indent="-398780" algn="l" rtl="0" eaLnBrk="1" fontAlgn="base" hangingPunct="1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zh-CN" altLang="en-US" sz="1600" b="1">
                    <a:latin typeface="华文楷体" panose="02010600040101010101" charset="-122"/>
                    <a:ea typeface="华文楷体" panose="02010600040101010101" charset="-122"/>
                  </a:rPr>
                  <a:t>做</a:t>
                </a:r>
                <a:r>
                  <a:rPr lang="zh-CN" altLang="en-US" sz="1600" b="1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题心得</a:t>
                </a:r>
                <a:r>
                  <a:rPr lang="zh-CN" altLang="en-US" b="1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：</a:t>
                </a:r>
                <a:r>
                  <a:rPr lang="zh-CN" altLang="en-US" sz="160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这道题让我们深刻体会到了“逆向思维”在算法降维中的巨大威力。如果正向使用 </a:t>
                </a:r>
                <a:r>
                  <a:rPr lang="en-US" altLang="zh-CN" sz="160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BFS </a:t>
                </a:r>
                <a:r>
                  <a:rPr lang="zh-CN" altLang="en-US" sz="160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搜索，面对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zh-CN" altLang="en-US" sz="1600">
                    <a:latin typeface="华文楷体" panose="02010600040101010101" charset="-122"/>
                    <a:ea typeface="华文楷体" panose="02010600040101010101" charset="-122"/>
                  </a:rPr>
                  <a:t>的数据量，搜索树会呈指数级爆炸；但当我们调转方向，从目标逆推回起点时，利用“偶数直接折半、奇数微调”的策略，瞬间将问题规模从 </a:t>
                </a:r>
                <a:r>
                  <a:rPr lang="en-US" altLang="zh-CN" sz="1600">
                    <a:latin typeface="华文楷体" panose="02010600040101010101" charset="-122"/>
                    <a:ea typeface="华文楷体" panose="02010600040101010101" charset="-122"/>
                  </a:rPr>
                  <a:t>O(n)</a:t>
                </a:r>
                <a:r>
                  <a:rPr lang="zh-CN" altLang="en-US" sz="1600">
                    <a:latin typeface="华文楷体" panose="02010600040101010101" charset="-122"/>
                    <a:ea typeface="华文楷体" panose="02010600040101010101" charset="-122"/>
                  </a:rPr>
                  <a:t>降维打击到了 </a:t>
                </a:r>
                <a:r>
                  <a:rPr lang="en-US" altLang="zh-CN" sz="1600">
                    <a:latin typeface="华文楷体" panose="02010600040101010101" charset="-122"/>
                    <a:ea typeface="华文楷体" panose="02010600040101010101" charset="-122"/>
                  </a:rPr>
                  <a:t>O(log n)。</a:t>
                </a:r>
                <a:r>
                  <a:rPr lang="zh-CN" altLang="en-US" sz="1600">
                    <a:latin typeface="华文楷体" panose="02010600040101010101" charset="-122"/>
                    <a:ea typeface="华文楷体" panose="02010600040101010101" charset="-122"/>
                  </a:rPr>
                  <a:t>结合哈希表记忆化，完美的剪枝策略是解决这道题的核心灵魂。</a:t>
                </a:r>
                <a:endParaRPr lang="zh-CN" altLang="en-US" sz="1600">
                  <a:latin typeface="华文楷体" panose="02010600040101010101" charset="-122"/>
                  <a:ea typeface="华文楷体" panose="02010600040101010101" charset="-122"/>
                </a:endParaRPr>
              </a:p>
            </p:txBody>
          </p:sp>
        </mc:Choice>
        <mc:Fallback>
          <p:sp>
            <p:nvSpPr>
              <p:cNvPr id="12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10" y="2277110"/>
                <a:ext cx="4865370" cy="47701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  <p:bldP spid="20483" grpId="1" build="p"/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208088" y="1628775"/>
            <a:ext cx="7929562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缓存技术/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Caching technology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 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缓存技术/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Caching technology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 vert="horz" wrap="square" lIns="91440" tIns="45720" rIns="91440" bIns="45720" anchor="t" anchorCtr="0"/>
              <a:p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题目难点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：操作串长度高达 |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S|</a:t>
                </a:r>
                <a:r>
                  <a:rPr lang="en-US" altLang="zh-CN" sz="1600" dirty="0">
                    <a:latin typeface="宋体" panose="02010600030101010101" pitchFamily="2" charset="-122"/>
                    <a:ea typeface="宋体" panose="02010600030101010101" pitchFamily="2" charset="-122"/>
                    <a:cs typeface="华文楷体" panose="02010600040101010101" charset="-122"/>
                  </a:rPr>
                  <a:t>≦2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  <a:cs typeface="华文楷体" panose="02010600040101010101" charset="-122"/>
                  </a:rPr>
                  <a:t>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，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在此高频读取与写入场景下，传统的数组搬移会导致严重超时。难点在于必须设计“哈希表 + 双向链表”的组合数据结构，以保证缓存的查询、更新、移动和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LRU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淘汰的时间复杂度均达到 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O(1)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。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r>
                  <a:rPr lang="en-US" altLang="zh-CN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     </a:t>
                </a:r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流程图：</a:t>
                </a:r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</p:txBody>
          </p:sp>
        </mc:Choice>
        <mc:Fallback>
          <p:sp>
            <p:nvSpPr>
              <p:cNvPr id="204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2637155"/>
            <a:ext cx="7881620" cy="330327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  <p:bldP spid="2048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5017135" y="242062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手写 </a:t>
            </a: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LRU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缓存是对“数据结构组合拳”的极佳训练。我们认识到，单一的数据结构往往存在短板：数组查询快但移动慢，链表插入快但查询慢。通过将 哈希表（实现 </a:t>
            </a: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O(1)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极速定位）与 双向链表（实现 </a:t>
            </a: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O(1)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节点拔插）深度绑定，完美跨越了十万级数据量的性能鸿沟，这也正是工业级缓存系统（如 </a:t>
            </a: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Redis）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的底层架构思想。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13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 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缓存技术/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Caching technology</a:t>
            </a:r>
            <a:endParaRPr lang="en-US" altLang="zh-CN" sz="28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115" y="242125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6" name="Picture" descr="Pasted image 20260621112004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3429635"/>
            <a:ext cx="4957445" cy="25171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539750" y="1341755"/>
            <a:ext cx="7937500" cy="1275715"/>
          </a:xfrm>
        </p:spPr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测试数据介绍：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容量上限为 3，执行一系列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READ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和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WRITE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操作。在缓存满且执行写入时，系统能正确淘汰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LRU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端的脏数据 &lt;20, 200&gt; 并写回主存。后续缺页重新读取 20 时，成功拿到写回后的新值 200。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208088" y="1628775"/>
            <a:ext cx="7929562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平滑信号 (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Delivery plan)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C：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平滑信号 (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Delivery plan)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题目难点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表面上是多尺度滑动均值滤波去噪，如果暴力模拟滑动窗口会超时。解题难点在于数学逻辑的降维转化——为了让所有窗口滤波后都是常数序列，原序列必须完全相等，因此问题转化为“求将序列变成常数序列的最少修改次数”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流程图：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30" y="2493010"/>
            <a:ext cx="1644650" cy="3429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55" y="2493010"/>
            <a:ext cx="3104515" cy="342963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3923665" y="249301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这是一道典型的“披着复杂外衣的数学题”。题目中极其唬人的“多尺度滑动窗口均值滤波”，极其容易诱导我们去写复杂的嵌套循环来模拟窗口。但经过严格的数学等价推导，我们拨开迷雾，发现其本质不过是“求众数并统计差集”。这提醒我们在动手敲代码前，“数学抽象与等价转化”往往能帮我们省去 90% 的无用功。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13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题目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C：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平滑信号 (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Delivery plan)</a:t>
            </a:r>
            <a:endParaRPr lang="en-US" altLang="zh-CN" sz="28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750" y="256476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 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样例 </a:t>
            </a: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2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539750" y="1341755"/>
            <a:ext cx="7937500" cy="1275715"/>
          </a:xfrm>
        </p:spPr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测试数据介绍：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样例 1 (5 3)：输入 `1 2 2 2 3`，输出修改次数 `2`，耗时 8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us。</a:t>
            </a:r>
            <a:endParaRPr lang="en-US" altLang="zh-CN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样例 2 (4 2)：输入 `1 2 3 4`，输出 `3`，耗时 6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us。</a:t>
            </a:r>
            <a:endParaRPr lang="en-US" altLang="zh-CN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极限数据：处理 20 万（$2 \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times 10^5$）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的极限输入时，实际执行时间在十几毫秒内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77" name="Picture" descr="Pasted image 20260617210248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3501390"/>
            <a:ext cx="2162175" cy="9601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Picture" descr="Pasted image 20260617210327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5" y="4797425"/>
            <a:ext cx="2209800" cy="9804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539115" y="1684020"/>
            <a:ext cx="8868410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能源划分/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Energy classification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能源划分/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Energy classification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 vert="horz" wrap="square" lIns="91440" tIns="45720" rIns="91440" bIns="45720" anchor="t" anchorCtr="0"/>
              <a:p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题目难点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：题目要求最小化最大波动风险值，即典型的“最小化最大值”问题。难点在于确定使用二分答案的范式，并实现 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O(n)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时间内的贪心验证算法；此外，上界理论最坏情况下的最大风险上限高达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，必须使用 64 位整型 (`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long long`)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防止溢出。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r>
                  <a:rPr lang="en-US" altLang="zh-CN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      </a:t>
                </a:r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流程图：</a:t>
                </a:r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</p:txBody>
          </p:sp>
        </mc:Choice>
        <mc:Fallback>
          <p:sp>
            <p:nvSpPr>
              <p:cNvPr id="204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585" y="2340610"/>
            <a:ext cx="2973705" cy="37846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4227830" y="242062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遇到“求最大值中的最小值”或“最小化风险限制”这种字眼，我们立刻条件反射般锁定了“二分答案”范式。这道题让我们熟练掌握了“猜测答案 -&gt; 贪心验证”的经典解题框架。将一个极其难以直接划分的组合优化问题，转化为一个简单的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O(n)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线性判定问题，是这道题带来的最大启发。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13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D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能源划分/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Energy classification</a:t>
            </a:r>
            <a:endParaRPr lang="en-US" altLang="zh-CN" sz="28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115" y="242125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endParaRPr lang="en-US" altLang="zh-CN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en-US" altLang="zh-CN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539750" y="1341755"/>
            <a:ext cx="7937500" cy="1275715"/>
          </a:xfrm>
        </p:spPr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测试数据介绍：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样例数据：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n=6, m=3，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阵列出力为 `4 10 1 6 9 6`。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运行结果：通过二分搜索，程序输出最小总风险值为 `12`。验证最优划分为 `[4, 10]`（风险12）、`[1, 6]`（风险10）、`[9, 6]`（风险6），最大风险即为 12。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78" name="Picture" descr="Pasted image 20260621113048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4077335"/>
            <a:ext cx="2612390" cy="894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208088" y="1628775"/>
            <a:ext cx="7929562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智能调度/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Fast charging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E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智能调度/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Fast charging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题目难点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：暴力模拟是不可取的，“寻找不变量”才是破题关键。我们通过分析发现，无论如何操作，总容量的增量必定是“偶数”。基于这一极强的数学约束，我们将复杂的动态调度过程抽象为了一个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O(1)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的数学公式推导。这让我们意识到，优秀的算法不仅在于代码写得多快，更在于数学推演有多深。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流程图：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630" y="2564765"/>
            <a:ext cx="2942590" cy="351980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3797300" y="242062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暴力模拟是不可取的，“寻找不变量”才是破题关键。我们通过分析发现，无论如何操作，总容量的增量必定是“偶数”。基于这一极强的数学约束，我们将复杂的动态调度过程抽象为了一个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O(1)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的数学公式推导。这让我们意识到，优秀的算法不仅在于代码写得多快，更在于数学推演有多深。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13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E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智能调度/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Fast charging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115" y="242125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endParaRPr lang="en-US" altLang="zh-CN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Rectangle 3"/>
              <p:cNvSpPr>
                <a:spLocks noGrp="1"/>
              </p:cNvSpPr>
              <p:nvPr>
                <p:ph idx="1"/>
              </p:nvPr>
            </p:nvSpPr>
            <p:spPr>
              <a:xfrm>
                <a:off x="539750" y="1341755"/>
                <a:ext cx="7937500" cy="1275715"/>
              </a:xfrm>
            </p:spPr>
            <p:txBody>
              <a:bodyPr vert="horz" wrap="square" lIns="91440" tIns="45720" rIns="91440" bIns="45720" anchor="t" anchorCtr="0"/>
              <a:p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测试数据介绍：</a:t>
                </a:r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样例数据：输入 `2 4 5`。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运行结果：输出操作次数 `2`。使用公式法代替搜索，时间复杂度 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O(1)，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可应对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华文楷体" panose="02010600040101010101" charset="-122"/>
                            <a:cs typeface="Cambria Math" panose="02040503050406030204" charset="0"/>
                            <a:sym typeface="+mn-ea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范围内的数据。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</p:txBody>
          </p:sp>
        </mc:Choice>
        <mc:Fallback>
          <p:sp>
            <p:nvSpPr>
              <p:cNvPr id="204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750" y="1341755"/>
                <a:ext cx="7937500" cy="1275715"/>
              </a:xfrm>
              <a:blipFill rotWithShape="1">
                <a:blip r:embed="rId1"/>
                <a:stretch>
                  <a:fillRect b="-3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图片 80" descr="7301c8ea5833ff4670f06cf9f81896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3660775"/>
            <a:ext cx="2051685" cy="70485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208088" y="1628775"/>
            <a:ext cx="7929562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出厂校准/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Gear calibration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F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出厂校准/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Gear calibration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题目难点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：属于四维 01 背包问题，四维分别对应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Li、Co、Ni、Mn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四种元素的库存要求。直接开四维数组极易超出空间限制，难点在于进行“值域压缩优化”——背包上限只需卡到目标下限即可，超出下限的数量等价保存为下限值。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流程图：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3028950"/>
            <a:ext cx="5393055" cy="308292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3940810" y="242062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多维动态规划（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DP）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的难点永远是“状态空间的爆炸”。面对四种元素的背包问题，我们学到了一个极其重要的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DP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优化技巧——“值域截断（状态压缩）”。由于溢出目标值的数量没有额外收益，我们将超出下限的状态全部强制收敛到下限值上。这一个微小的优化，直接将原本会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Memory Limit Exceeded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的空间压缩到了安全范围内。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13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F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出厂校准/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Gear calibration</a:t>
            </a:r>
            <a:endParaRPr lang="en-US" altLang="zh-CN" sz="28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115" y="242125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</a:t>
            </a:r>
            <a:endParaRPr lang="en-US" altLang="zh-CN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en-US" altLang="zh-CN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539750" y="1341755"/>
            <a:ext cx="7937500" cy="1275715"/>
          </a:xfrm>
        </p:spPr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测试数据介绍：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样例数据：要求 4 种金属下限 `4 5 6 7`，共有 3 条产线。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运行结果：输出最小成本 `126`。优化后可满足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m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华文楷体" panose="02010600040101010101" charset="-122"/>
                <a:sym typeface="+mn-ea"/>
              </a:rPr>
              <a:t>≦100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单元素上限 30 的数据范围。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1" name="图片 81" descr="771b10a38e36292910b41a85564123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4005580"/>
            <a:ext cx="2089150" cy="6985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323215" y="1628775"/>
            <a:ext cx="9876155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服务划分/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Independent service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450"/>
            <a:ext cx="7127240" cy="747395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G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服务划分/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Independent service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</a:t>
            </a:r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题目难点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：树上动态多源最短路问题。难点在于不仅有多中心点查询，且树的边权和点权都会动态改变，导致无法提前进行预处理。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流程图：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2493010"/>
            <a:ext cx="2823210" cy="33756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690" y="2421255"/>
            <a:ext cx="3180715" cy="344741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4012565" y="242062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这道题锻炼了我们在“离线与在线处理”之间的权衡能力。面对动态变化的边权和点权，任何预处理（如树形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DP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或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LCA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预处理最短路）都会失效。我们转变思路，利用多源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Dijkstra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算法极高的单次执行效率，选择在线实时跑最短路。这告诉我们，在特定数据范围限制下，回归朴素而高效的基础图论算法，反而是最稳妥的策略。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450"/>
            <a:ext cx="11362690" cy="7473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G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服务划分/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Independent service</a:t>
            </a:r>
            <a:endParaRPr lang="en-US" altLang="zh-CN" sz="28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115" y="242125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Rectangle 3"/>
              <p:cNvSpPr>
                <a:spLocks noGrp="1"/>
              </p:cNvSpPr>
              <p:nvPr>
                <p:ph idx="1"/>
              </p:nvPr>
            </p:nvSpPr>
            <p:spPr>
              <a:xfrm>
                <a:off x="539750" y="1341755"/>
                <a:ext cx="7937500" cy="1275715"/>
              </a:xfrm>
            </p:spPr>
            <p:txBody>
              <a:bodyPr vert="horz" wrap="square" lIns="91440" tIns="45720" rIns="91440" bIns="45720" anchor="t" anchorCtr="0"/>
              <a:p>
                <a:r>
                  <a:rPr lang="zh-CN" altLang="en-US" sz="1600" b="1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rPr>
                  <a:t>测试数据介绍：</a:t>
                </a:r>
                <a:endParaRPr lang="zh-CN" altLang="en-US" sz="16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样例与性能：包含修改需求、修改边权、查询服务量等多种操作组合。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    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运行结果：利用多源 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Dijkstra 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在线处理，由于所有查询的中心点总数之和限制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  <a:cs typeface="华文楷体" panose="02010600040101010101" charset="-122"/>
                    <a:sym typeface="+mn-ea"/>
                  </a:rPr>
                  <a:t>≦</a:t>
                </a:r>
                <a:r>
                  <a:rPr lang="en-US" altLang="zh-CN" sz="1600" dirty="0">
                    <a:latin typeface="宋体" panose="02010600030101010101" pitchFamily="2" charset="-122"/>
                    <a:ea typeface="宋体" panose="02010600030101010101" pitchFamily="2" charset="-122"/>
                    <a:cs typeface="华文楷体" panose="02010600040101010101" charset="-122"/>
                    <a:sym typeface="+mn-ea"/>
                  </a:rPr>
                  <a:t>3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  <a:cs typeface="华文楷体" panose="02010600040101010101" charset="-122"/>
                    <a:sym typeface="+mn-ea"/>
                  </a:rPr>
                  <a:t>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+mn-ea"/>
                          </a:rPr>
                          <m:t>5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 </a:t>
                </a:r>
                <a:r>
                  <a:rPr lang="en-US" altLang="zh-CN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，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该动态处理做法的运行效率合格并通过全部数据。</a:t>
                </a:r>
                <a:r>
                  <a:rPr lang="zh-CN" altLang="en-US" sz="1600" dirty="0"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+mn-ea"/>
                  </a:rPr>
                  <a:t>。</a:t>
                </a:r>
                <a:endParaRPr lang="zh-CN" altLang="en-US" sz="1600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endParaRPr>
              </a:p>
            </p:txBody>
          </p:sp>
        </mc:Choice>
        <mc:Fallback>
          <p:sp>
            <p:nvSpPr>
              <p:cNvPr id="204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750" y="1341755"/>
                <a:ext cx="7937500" cy="1275715"/>
              </a:xfrm>
              <a:blipFill rotWithShape="1">
                <a:blip r:embed="rId1"/>
                <a:stretch>
                  <a:fillRect b="-4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6" name="图片 86" descr="d1a48c46d817461558a78d613106e144"/>
          <p:cNvPicPr>
            <a:picLocks noChangeAspect="1"/>
          </p:cNvPicPr>
          <p:nvPr/>
        </p:nvPicPr>
        <p:blipFill>
          <a:blip r:embed="rId2"/>
          <a:srcRect r="51142"/>
          <a:stretch>
            <a:fillRect/>
          </a:stretch>
        </p:blipFill>
        <p:spPr>
          <a:xfrm>
            <a:off x="1043305" y="3429635"/>
            <a:ext cx="2376170" cy="241681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755333" y="1628775"/>
            <a:ext cx="7929562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电池续航/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Journey endurance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H 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电池续航/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Journey endurance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题目难点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：求恰好跨越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K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段路且最大边权最小的路线。难点在于普通最短路算法不适用，且步数极大时一层层模拟会超时。必须将其转化为“矩阵快速幂”简化计算，并自定义路线拼接规则（取两段路峰值中更大的那个，并在所有中转点中挑峰值最小的方案）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流程图：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0" y="2277110"/>
            <a:ext cx="3402965" cy="388874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4443095" y="242062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这道题极大地拓宽了我们对“矩阵快速幂”的应用认知。传统的快速幂用于求数字的次方，而在这里，我们将矩阵乘法的定义修改为“取最大值中的最小值”（即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min(max(a, b))），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将路线拼接的逻辑完美代入其中。这种广义矩阵乘法结合快速幂解决特定步数极值图论问题的思想，非常令人惊艳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13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H 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电池续航/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Journey endurance</a:t>
            </a:r>
            <a:endParaRPr lang="en-US" altLang="zh-CN" sz="28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115" y="242125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539750" y="1341755"/>
            <a:ext cx="7937500" cy="1275715"/>
          </a:xfrm>
        </p:spPr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测试数据介绍：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样例数据：3 个点 6 条边，包含自环和重边。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运行结果：查询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K=1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时，输出 `10 5 100`；查询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K=3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时，输出 `10 5 10`。程序能正确处理自环凑步数、过滤重边，无法到达时正确输出 `-1`。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3" name="图片 4"/>
          <p:cNvPicPr>
            <a:picLocks noChangeAspect="1"/>
          </p:cNvPicPr>
          <p:nvPr/>
        </p:nvPicPr>
        <p:blipFill>
          <a:blip r:embed="rId1"/>
          <a:srcRect r="61747"/>
          <a:stretch>
            <a:fillRect/>
          </a:stretch>
        </p:blipFill>
        <p:spPr>
          <a:xfrm>
            <a:off x="1043305" y="3500755"/>
            <a:ext cx="300037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208088" y="1628775"/>
            <a:ext cx="7929562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电池健康 /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Keep health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  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电池健康 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Keep health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题目难点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取用电池时有多重优先级限制（循环次数少优先，同等条件入库早优先）。难点在于维护小根堆时，由于状态变更（被借出或报废），堆里会存留大量过期/无效数据，必须在每次取用时采用“延迟删除”策略，丢掉无效堆顶，直至拿到在库电池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流程图：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830" y="2564765"/>
            <a:ext cx="5927725" cy="354711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4586605" y="242062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这道综合模拟题最大的技术难点在于：优先队列（堆）不支持随机删除。对此，我们熟练应用了工程界非常经典的“延迟删除（</a:t>
            </a: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Lazy Deletion）”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技巧。我们任由过期数据留在堆中，只有当它浮到堆顶准备被取用时，才去哈希表中核验其合法性并予以丢弃。这种以微小的空间换取时间绝对稳定的策略，非常具有实战价值。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13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I  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电池健康 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Keep health</a:t>
            </a:r>
            <a:endParaRPr lang="en-US" altLang="zh-CN" sz="28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115" y="242125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539750" y="1341755"/>
            <a:ext cx="7937500" cy="1275715"/>
          </a:xfrm>
        </p:spPr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测试数据介绍：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样例数据：执行了 13 条包含买进、取用、归还的综合操作，报废阈值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K=3。</a:t>
            </a:r>
            <a:endParaRPr lang="en-US" altLang="zh-CN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运行结果：归还电池时若循环次数达到 3，直接报废；查询最终库存，正确输出 `1`（只剩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B002），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逻辑完全匹配。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84" name="图片 5"/>
          <p:cNvPicPr>
            <a:picLocks noChangeAspect="1"/>
          </p:cNvPicPr>
          <p:nvPr/>
        </p:nvPicPr>
        <p:blipFill>
          <a:blip r:embed="rId1"/>
          <a:srcRect r="28243"/>
          <a:stretch>
            <a:fillRect/>
          </a:stretch>
        </p:blipFill>
        <p:spPr>
          <a:xfrm>
            <a:off x="848995" y="3429000"/>
            <a:ext cx="3168650" cy="2640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611505" y="1628775"/>
            <a:ext cx="10104120" cy="11525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生产优化 /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Line optimization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1182688" y="261938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2026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年课程大作业汇报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组长：杜雨龙（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2025218896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组员：李泽浩2025218895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田浩然2025218885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李铭毅2025218921</a:t>
            </a:r>
            <a:b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汇报日期：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2026-6-24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131820" y="44133"/>
            <a:ext cx="5622925" cy="74771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J . 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生产优化 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Line optimization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题目难点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：这道题是“分层图 / 状态扩展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DP”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的完美演示。在有向无环图（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DAG）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的拓扑序列天然支持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DP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的基础上，我们将“可用优化次数”作为第二维状态加入数组。这不仅清晰地展现了现实世界中“资源受限情况下的最短路径”求解模型，也让我们彻底掌握了如何在 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DP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中进行维度的扩展与状态转移。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流程图：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2997835"/>
            <a:ext cx="2000885" cy="29965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0" y="2997200"/>
            <a:ext cx="2844165" cy="29972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内容占位符 2"/>
          <p:cNvSpPr>
            <a:spLocks noGrp="1"/>
          </p:cNvSpPr>
          <p:nvPr/>
        </p:nvSpPr>
        <p:spPr>
          <a:xfrm>
            <a:off x="4586605" y="2420620"/>
            <a:ext cx="372999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做题心得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这道题是“分层图 / 状态扩展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DP”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的完美演示。在有向无环图（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DAG）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的拓扑序列天然支持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DP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的基础上，我们将“可用优化次数”作为第二维状态加入数组。这不仅清晰地展现了现实世界中“资源受限情况下的最短路径”求解模型，也让我们彻底掌握了如何在 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</a:rPr>
              <a:t>DP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</a:rPr>
              <a:t>中进行维度的扩展与状态转移。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3131820" y="44450"/>
            <a:ext cx="8047990" cy="7473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题目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J . </a:t>
            </a: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生产优化 / </a:t>
            </a:r>
            <a:r>
              <a:rPr lang="en-US" altLang="zh-CN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Line optimization</a:t>
            </a:r>
            <a:endParaRPr lang="en-US" altLang="zh-CN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39115" y="2421255"/>
            <a:ext cx="3477260" cy="47701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代码演示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：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</a:rPr>
              <a:t>         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</a:rPr>
              <a:t>样例 1 测试情况</a:t>
            </a: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endParaRPr lang="zh-CN" altLang="en-US" sz="16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539750" y="1341755"/>
            <a:ext cx="7937500" cy="1275715"/>
          </a:xfrm>
        </p:spPr>
        <p:txBody>
          <a:bodyPr vert="horz" wrap="square" lIns="91440" tIns="45720" rIns="91440" bIns="45720" anchor="t" anchorCtr="0"/>
          <a:p>
            <a:r>
              <a:rPr lang="zh-CN" altLang="en-US" sz="16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测试数据介绍：</a:t>
            </a:r>
            <a:endParaRPr lang="zh-CN" altLang="en-US" sz="16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样例数据：4 个点、5 条工序边，最多允许优化 2 次。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运行结果：程序计算出最优方案为同时优化 1→2 与 3→4，总耗时从较高值缩减为 2+1+1 = 4。输出结果 `4` 与标准答案完全匹配。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85" name="图片 6"/>
          <p:cNvPicPr>
            <a:picLocks noChangeAspect="1"/>
          </p:cNvPicPr>
          <p:nvPr/>
        </p:nvPicPr>
        <p:blipFill>
          <a:blip r:embed="rId1"/>
          <a:srcRect r="21101"/>
          <a:stretch>
            <a:fillRect/>
          </a:stretch>
        </p:blipFill>
        <p:spPr>
          <a:xfrm>
            <a:off x="827405" y="3573145"/>
            <a:ext cx="3404870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20483" grpId="0" uiExpand="1" build="p"/>
      <p:bldP spid="20483" grpI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整体做题情况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算法降维与数学抽象能力（题目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A、C、E）。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面对动辄百万级、千万级的数据量，我们跳出了嵌套循环的死胡同。例如在题目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中，我们用‘逆向折半’思维将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O(n)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的状态树直接降维至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O(log n)；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和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E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中，我们透过复杂的滤波与调度表象，利用奇偶校验与频率统计，将其化简为了极速的纯数学解法。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底层数据结构的工程化重构（题目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B、I）。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我们没有过度依赖现成的高级库，而是真正去‘造轮子’。在题目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中，我们深度融合了哈希表与双向链表，手写了时间复杂度绝对 $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O(1)$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的工业级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LRU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缓存系统；在题目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I（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电池健康）中，为了突破优先队列无法随机删除的瓶颈，我们引入了极具实战价值的‘延迟删除（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Lazy Deletion）’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机制，用极小的空间换取了时间上的绝对稳定。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对高维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DP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与复杂图论的变通驾驭（题目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F、H、J、G）。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面对状态爆炸，我们在题目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F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中利用‘容量截断’完美实现了四维背包的空间压缩，并在题目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J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中运用‘状态扩展’完成了资源受限的分层图规划。而在图论部分，我们大胆打破常规，重构了广义矩阵快速幂（题目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H）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来解决海量步数的极值问题，并用多源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Dijkstra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在线跑法成功应对了动态网络。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最后，整套算法的架构设计，我们都严格遵循了 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GB 1526-89 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国家标准，绘制了模块化、可视化的流程图。这十道题不仅锤炼了我们的底层代码算力，更重塑了我们解决复杂系统问题的宏观架构能力。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3" grpI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rgbClr val="FF3300"/>
                </a:solidFill>
                <a:latin typeface="+mj-lt"/>
                <a:ea typeface="华文新魏" panose="02010800040101010101" pitchFamily="2" charset="-122"/>
                <a:cs typeface="+mj-cs"/>
              </a:rPr>
              <a:t>感谢参加汇报 ！</a:t>
            </a:r>
            <a:endParaRPr lang="zh-CN" altLang="en-US" sz="3600" b="1" dirty="0">
              <a:solidFill>
                <a:srgbClr val="FF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type="subTitle" idx="4294967295"/>
          </p:nvPr>
        </p:nvSpPr>
        <p:spPr>
          <a:xfrm>
            <a:off x="2297113" y="3441700"/>
            <a:ext cx="6218237" cy="1276350"/>
          </a:xfrm>
        </p:spPr>
        <p:txBody>
          <a:bodyPr vert="horz" wrap="square" lIns="91440" tIns="45720" rIns="91440" bIns="45720" anchor="t" anchorCtr="0"/>
          <a:lstStyle>
            <a:lvl1pPr marL="0" lvl="0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lvl1pPr>
            <a:lvl2pPr marL="471805" lvl="1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lvl2pPr>
            <a:lvl3pPr marL="909955" lvl="2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lvl3pPr>
            <a:lvl4pPr marL="1306830" lvl="3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lvl4pPr>
            <a:lvl5pPr marL="1695450" lvl="4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lvl5pPr>
          </a:lstStyle>
          <a:p>
            <a:pPr lvl="0" algn="l" eaLnBrk="1" hangingPunct="1">
              <a:lnSpc>
                <a:spcPct val="100000"/>
              </a:lnSpc>
            </a:pPr>
            <a:r>
              <a:rPr lang="zh-CN" altLang="en-US" sz="7200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欢迎指正！</a:t>
            </a:r>
            <a:endParaRPr lang="zh-CN" altLang="en-US" sz="7200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计算机与信息学院本科毕业设计开题汇报">
  <a:themeElements>
    <a:clrScheme name="zdy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zdy">
      <a:majorFont>
        <a:latin typeface="Verdana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lnDef>
  </a:objectDefaults>
  <a:extraClrSchemeLst>
    <a:extraClrScheme>
      <a:clrScheme name="zdy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dy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计算机与信息学院本科毕业设计开题汇报">
  <a:themeElements>
    <a:clrScheme name="zdy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zdy">
      <a:majorFont>
        <a:latin typeface="Verdana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lnDef>
  </a:objectDefaults>
  <a:extraClrSchemeLst>
    <a:extraClrScheme>
      <a:clrScheme name="zdy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dy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校领导学院调研汇报200911</Template>
  <TotalTime>0</TotalTime>
  <Words>6688</Words>
  <Application>WPS 演示</Application>
  <PresentationFormat>全屏显示(4:3)</PresentationFormat>
  <Paragraphs>291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Arial</vt:lpstr>
      <vt:lpstr>宋体</vt:lpstr>
      <vt:lpstr>Wingdings</vt:lpstr>
      <vt:lpstr>Times New Roman</vt:lpstr>
      <vt:lpstr>华文新魏</vt:lpstr>
      <vt:lpstr>Verdana</vt:lpstr>
      <vt:lpstr>黑体</vt:lpstr>
      <vt:lpstr>华文楷体</vt:lpstr>
      <vt:lpstr>Cambria Math</vt:lpstr>
      <vt:lpstr>MS Mincho</vt:lpstr>
      <vt:lpstr>Segoe Print</vt:lpstr>
      <vt:lpstr>微软雅黑</vt:lpstr>
      <vt:lpstr>Arial Unicode MS</vt:lpstr>
      <vt:lpstr>楷体_GB2312</vt:lpstr>
      <vt:lpstr>新宋体</vt:lpstr>
      <vt:lpstr>计算机与信息学院本科毕业设计开题汇报</vt:lpstr>
      <vt:lpstr>1_计算机与信息学院本科毕业设计开题汇报</vt:lpstr>
      <vt:lpstr>题目：间距调整\Brake distance </vt:lpstr>
      <vt:lpstr>题目A:间距调整\Brake distance</vt:lpstr>
      <vt:lpstr>PowerPoint 演示文稿</vt:lpstr>
      <vt:lpstr>题目：缓存技术/Caching technology</vt:lpstr>
      <vt:lpstr>题目B 缓存技术/Caching technology</vt:lpstr>
      <vt:lpstr>PowerPoint 演示文稿</vt:lpstr>
      <vt:lpstr>题目：平滑信号 (Delivery plan)</vt:lpstr>
      <vt:lpstr>题目 C：平滑信号 (Delivery plan)</vt:lpstr>
      <vt:lpstr>PowerPoint 演示文稿</vt:lpstr>
      <vt:lpstr>题目：能源划分/Energy classification</vt:lpstr>
      <vt:lpstr>D能源划分/Energy classification</vt:lpstr>
      <vt:lpstr>PowerPoint 演示文稿</vt:lpstr>
      <vt:lpstr>题目：智能调度/ Fast charging</vt:lpstr>
      <vt:lpstr>题目E智能调度/ Fast charging</vt:lpstr>
      <vt:lpstr>PowerPoint 演示文稿</vt:lpstr>
      <vt:lpstr>题目：出厂校准/ Gear calibration</vt:lpstr>
      <vt:lpstr>题目F出厂校准/ Gear calibration</vt:lpstr>
      <vt:lpstr>PowerPoint 演示文稿</vt:lpstr>
      <vt:lpstr>题目：服务划分/ Independent service</vt:lpstr>
      <vt:lpstr>题目G服务划分/ Independent service</vt:lpstr>
      <vt:lpstr>PowerPoint 演示文稿</vt:lpstr>
      <vt:lpstr>题目：电池续航/ Journey endurance</vt:lpstr>
      <vt:lpstr>题目H 电池续航/ Journey endurance</vt:lpstr>
      <vt:lpstr>PowerPoint 演示文稿</vt:lpstr>
      <vt:lpstr>题目：电池健康 / Keep health</vt:lpstr>
      <vt:lpstr>题目I  电池健康 / Keep health</vt:lpstr>
      <vt:lpstr>PowerPoint 演示文稿</vt:lpstr>
      <vt:lpstr>题目：生产优化 / Line optimization</vt:lpstr>
      <vt:lpstr>题目J . 生产优化 / Line optimization</vt:lpstr>
      <vt:lpstr>PowerPoint 演示文稿</vt:lpstr>
      <vt:lpstr>整体做题情况</vt:lpstr>
      <vt:lpstr>感谢参加汇报 ！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王伟</dc:creator>
  <cp:lastModifiedBy>杜雨龙</cp:lastModifiedBy>
  <cp:revision>183</cp:revision>
  <dcterms:created xsi:type="dcterms:W3CDTF">2009-11-14T07:16:00Z</dcterms:created>
  <dcterms:modified xsi:type="dcterms:W3CDTF">2026-06-23T18:43:02Z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A1E9991FB04A4DDA8E8C1E5CAFAD60CF_12</vt:lpwstr>
  </property>
</Properties>
</file>